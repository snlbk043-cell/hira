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Incident Severity Pyramid (Heinrich)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DC262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Fatality</c:v>
                </c:pt>
                <c:pt idx="1">
                  <c:v>Lost Time Injury</c:v>
                </c:pt>
                <c:pt idx="2">
                  <c:v>Restricted Work</c:v>
                </c:pt>
                <c:pt idx="3">
                  <c:v>Medical Treatment</c:v>
                </c:pt>
                <c:pt idx="4">
                  <c:v>First Aid</c:v>
                </c:pt>
                <c:pt idx="5">
                  <c:v>Near Miss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5</c:v>
                </c:pt>
                <c:pt idx="3">
                  <c:v>5</c:v>
                </c:pt>
                <c:pt idx="4">
                  <c:v>7</c:v>
                </c:pt>
                <c:pt idx="5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Incident Classification Mix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DC2626"/>
              </a:solidFill>
            </c:spPr>
          </c:dPt>
          <c:dPt>
            <c:idx val="1"/>
            <c:spPr>
              <a:solidFill>
                <a:srgbClr val="EA580C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EAB308"/>
              </a:solidFill>
            </c:spPr>
          </c:dPt>
          <c:dPt>
            <c:idx val="4"/>
            <c:spPr>
              <a:solidFill>
                <a:srgbClr val="15A34A"/>
              </a:solidFill>
            </c:spPr>
          </c:dPt>
          <c:dPt>
            <c:idx val="5"/>
            <c:spPr>
              <a:solidFill>
                <a:srgbClr val="0B6EA8"/>
              </a:solidFill>
            </c:spPr>
          </c:dPt>
          <c:cat>
            <c:strRef>
              <c:f>Sheet1!$A$2:$A$7</c:f>
              <c:strCache>
                <c:ptCount val="6"/>
                <c:pt idx="0">
                  <c:v>Fatality</c:v>
                </c:pt>
                <c:pt idx="1">
                  <c:v>Lost Time Injury</c:v>
                </c:pt>
                <c:pt idx="2">
                  <c:v>Restricted Work</c:v>
                </c:pt>
                <c:pt idx="3">
                  <c:v>Medical Treatment</c:v>
                </c:pt>
                <c:pt idx="4">
                  <c:v>First Aid</c:v>
                </c:pt>
                <c:pt idx="5">
                  <c:v>Near Miss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5</c:v>
                </c:pt>
                <c:pt idx="3">
                  <c:v>5</c:v>
                </c:pt>
                <c:pt idx="4">
                  <c:v>7</c:v>
                </c:pt>
                <c:pt idx="5">
                  <c:v>30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Monthly Incident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</c:v>
                </c:pt>
              </c:strCache>
            </c:strRef>
          </c:tx>
          <c:spPr>
            <a:ln w="28575">
              <a:solidFill>
                <a:srgbClr val="0F3D6E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5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  <c:pt idx="8">
                  <c:v>5</c:v>
                </c:pt>
                <c:pt idx="9">
                  <c:v>2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TRIR &amp; LTIFR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TRIR</c:v>
                </c:pt>
              </c:strCache>
            </c:strRef>
          </c:tx>
          <c:spPr>
            <a:ln w="28575">
              <a:solidFill>
                <a:srgbClr val="DC2626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2.4</c:v>
                </c:pt>
                <c:pt idx="3">
                  <c:v>7.2</c:v>
                </c:pt>
                <c:pt idx="4">
                  <c:v>7.2</c:v>
                </c:pt>
                <c:pt idx="5">
                  <c:v>0.0</c:v>
                </c:pt>
                <c:pt idx="6">
                  <c:v>2.4</c:v>
                </c:pt>
                <c:pt idx="7">
                  <c:v>0.0</c:v>
                </c:pt>
                <c:pt idx="8">
                  <c:v>2.4</c:v>
                </c:pt>
                <c:pt idx="9">
                  <c:v>0.0</c:v>
                </c:pt>
                <c:pt idx="10">
                  <c:v>2.4</c:v>
                </c:pt>
                <c:pt idx="11">
                  <c:v>2.4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LTIFR</c:v>
                </c:pt>
              </c:strCache>
            </c:strRef>
          </c:tx>
          <c:spPr>
            <a:ln w="28575">
              <a:solidFill>
                <a:srgbClr val="D71920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12.0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Leading vs Lagging Activity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Leading (Toolbox+Training+Obs+Insp)</c:v>
                </c:pt>
              </c:strCache>
            </c:strRef>
          </c:tx>
          <c:spPr>
            <a:ln w="28575">
              <a:solidFill>
                <a:srgbClr val="15A34A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</c:v>
                </c:pt>
                <c:pt idx="1">
                  <c:v>32</c:v>
                </c:pt>
                <c:pt idx="2">
                  <c:v>26</c:v>
                </c:pt>
                <c:pt idx="3">
                  <c:v>17</c:v>
                </c:pt>
                <c:pt idx="4">
                  <c:v>24</c:v>
                </c:pt>
                <c:pt idx="5">
                  <c:v>26</c:v>
                </c:pt>
                <c:pt idx="6">
                  <c:v>34</c:v>
                </c:pt>
                <c:pt idx="7">
                  <c:v>26</c:v>
                </c:pt>
                <c:pt idx="8">
                  <c:v>16</c:v>
                </c:pt>
                <c:pt idx="9">
                  <c:v>21</c:v>
                </c:pt>
                <c:pt idx="10">
                  <c:v>30</c:v>
                </c:pt>
                <c:pt idx="11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Lagging (Incidents)</c:v>
                </c:pt>
              </c:strCache>
            </c:strRef>
          </c:tx>
          <c:spPr>
            <a:ln w="28575">
              <a:solidFill>
                <a:srgbClr val="DC2626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</c:v>
                </c:pt>
                <c:pt idx="1">
                  <c:v>5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  <c:pt idx="8">
                  <c:v>5</c:v>
                </c:pt>
                <c:pt idx="9">
                  <c:v>2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Inspections by Month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Inspections</c:v>
                </c:pt>
              </c:strCache>
            </c:strRef>
          </c:tx>
          <c:spPr>
            <a:solidFill>
              <a:srgbClr val="0B6EA8"/>
            </a:solidFill>
            <a:ln>
              <a:noFill/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13</c:v>
                </c:pt>
                <c:pt idx="2">
                  <c:v>11</c:v>
                </c:pt>
                <c:pt idx="3">
                  <c:v>8</c:v>
                </c:pt>
                <c:pt idx="4">
                  <c:v>10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10</c:v>
                </c:pt>
                <c:pt idx="9">
                  <c:v>10</c:v>
                </c:pt>
                <c:pt idx="10">
                  <c:v>12</c:v>
                </c:pt>
                <c:pt idx="11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Department Safety Score (low → high)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B6EA8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Construction</c:v>
                </c:pt>
                <c:pt idx="1">
                  <c:v>Logistics</c:v>
                </c:pt>
                <c:pt idx="2">
                  <c:v>Contractor</c:v>
                </c:pt>
                <c:pt idx="3">
                  <c:v>Safety</c:v>
                </c:pt>
                <c:pt idx="4">
                  <c:v>Admin</c:v>
                </c:pt>
                <c:pt idx="5">
                  <c:v>Operations</c:v>
                </c:pt>
                <c:pt idx="6">
                  <c:v>Maintenance</c:v>
                </c:pt>
                <c:pt idx="7">
                  <c:v>Quality</c:v>
                </c:pt>
                <c:pt idx="8">
                  <c:v>Projects</c:v>
                </c:pt>
                <c:pt idx="9">
                  <c:v>Engineering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</c:v>
                </c:pt>
                <c:pt idx="1">
                  <c:v>78</c:v>
                </c:pt>
                <c:pt idx="2">
                  <c:v>80</c:v>
                </c:pt>
                <c:pt idx="3">
                  <c:v>84</c:v>
                </c:pt>
                <c:pt idx="4">
                  <c:v>89</c:v>
                </c:pt>
                <c:pt idx="5">
                  <c:v>92</c:v>
                </c:pt>
                <c:pt idx="6">
                  <c:v>94</c:v>
                </c:pt>
                <c:pt idx="7">
                  <c:v>94</c:v>
                </c:pt>
                <c:pt idx="8">
                  <c:v>96</c:v>
                </c:pt>
                <c:pt idx="9">
                  <c:v>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Root Cause Pareto (Incidents)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DC2626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Inadequate Procedure</c:v>
                </c:pt>
                <c:pt idx="1">
                  <c:v>Unsafe Condition</c:v>
                </c:pt>
                <c:pt idx="2">
                  <c:v>Equipment Failure</c:v>
                </c:pt>
                <c:pt idx="3">
                  <c:v>Unsafe Act</c:v>
                </c:pt>
                <c:pt idx="4">
                  <c:v>Human Error</c:v>
                </c:pt>
                <c:pt idx="5">
                  <c:v>Poor Housekeeping</c:v>
                </c:pt>
                <c:pt idx="6">
                  <c:v>Lack of Training</c:v>
                </c:pt>
                <c:pt idx="7">
                  <c:v>PPE Not Used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5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PTW Audit Verdict Mix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5A34A"/>
              </a:solidFill>
            </c:spPr>
          </c:dPt>
          <c:dPt>
            <c:idx val="1"/>
            <c:spPr>
              <a:solidFill>
                <a:srgbClr val="DC2626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Compliant</c:v>
                </c:pt>
                <c:pt idx="1">
                  <c:v>Non-Compliant</c:v>
                </c:pt>
                <c:pt idx="2">
                  <c:v>Partially Compliant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15</c:v>
                </c:pt>
                <c:pt idx="2">
                  <c:v>10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>
                <a:solidFill>
                  <a:srgbClr val="0F3D6E"/>
                </a:solidFill>
              </a:defRPr>
            </a:pPr>
            <a:r>
              <a:t>Training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5A34A"/>
              </a:solidFill>
            </c:spPr>
          </c:dPt>
          <c:dPt>
            <c:idx val="1"/>
            <c:spPr>
              <a:solidFill>
                <a:srgbClr val="F1F5F9"/>
              </a:solidFill>
            </c:spPr>
          </c:dPt>
          <c:cat>
            <c:strRef>
              <c:f>Sheet1!$A$2:$A$3</c:f>
              <c:strCache>
                <c:ptCount val="2"/>
                <c:pt idx="0">
                  <c:v>Actual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45.8</c:v>
                </c:pt>
                <c:pt idx="1">
                  <c:v>54.2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>
                <a:solidFill>
                  <a:srgbClr val="0F3D6E"/>
                </a:solidFill>
              </a:defRPr>
            </a:pPr>
            <a:r>
              <a:t>Obs Closure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0B6EA8"/>
              </a:solidFill>
            </c:spPr>
          </c:dPt>
          <c:dPt>
            <c:idx val="1"/>
            <c:spPr>
              <a:solidFill>
                <a:srgbClr val="F1F5F9"/>
              </a:solidFill>
            </c:spPr>
          </c:dPt>
          <c:cat>
            <c:strRef>
              <c:f>Sheet1!$A$2:$A$3</c:f>
              <c:strCache>
                <c:ptCount val="2"/>
                <c:pt idx="0">
                  <c:v>Actual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39.6</c:v>
                </c:pt>
                <c:pt idx="1">
                  <c:v>60.4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>
                <a:solidFill>
                  <a:srgbClr val="0F3D6E"/>
                </a:solidFill>
              </a:defRPr>
            </a:pPr>
            <a:r>
              <a:t>CA Closure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5A34A"/>
              </a:solidFill>
            </c:spPr>
          </c:dPt>
          <c:dPt>
            <c:idx val="1"/>
            <c:spPr>
              <a:solidFill>
                <a:srgbClr val="F1F5F9"/>
              </a:solidFill>
            </c:spPr>
          </c:dPt>
          <c:cat>
            <c:strRef>
              <c:f>Sheet1!$A$2:$A$3</c:f>
              <c:strCache>
                <c:ptCount val="2"/>
                <c:pt idx="0">
                  <c:v>Actual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41.7</c:v>
                </c:pt>
                <c:pt idx="1">
                  <c:v>58.3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>
                <a:solidFill>
                  <a:srgbClr val="0F3D6E"/>
                </a:solidFill>
              </a:defRPr>
            </a:pPr>
            <a:r>
              <a:t>PTW Compliance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F1F5F9"/>
              </a:solidFill>
            </c:spPr>
          </c:dPt>
          <c:cat>
            <c:strRef>
              <c:f>Sheet1!$A$2:$A$3</c:f>
              <c:strCache>
                <c:ptCount val="2"/>
                <c:pt idx="0">
                  <c:v>Actual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47.9</c:v>
                </c:pt>
                <c:pt idx="1">
                  <c:v>52.1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System Health Radar (% of target areas)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ln w="25400">
              <a:solidFill>
                <a:srgbClr val="0B6EA8"/>
              </a:solidFill>
            </a:ln>
          </c:spPr>
          <c:cat>
            <c:strRef>
              <c:f>Sheet1!$A$2:$A$7</c:f>
              <c:strCache>
                <c:ptCount val="6"/>
                <c:pt idx="0">
                  <c:v>Training</c:v>
                </c:pt>
                <c:pt idx="1">
                  <c:v>PTW Audit</c:v>
                </c:pt>
                <c:pt idx="2">
                  <c:v>Obs Closure</c:v>
                </c:pt>
                <c:pt idx="3">
                  <c:v>CA Closure</c:v>
                </c:pt>
                <c:pt idx="4">
                  <c:v>JSA Approval</c:v>
                </c:pt>
                <c:pt idx="5">
                  <c:v>Walkthroughs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45.8</c:v>
                </c:pt>
                <c:pt idx="1">
                  <c:v>47.9</c:v>
                </c:pt>
                <c:pt idx="2">
                  <c:v>39.6</c:v>
                </c:pt>
                <c:pt idx="3">
                  <c:v>41.7</c:v>
                </c:pt>
                <c:pt idx="4">
                  <c:v>52.1</c:v>
                </c:pt>
                <c:pt idx="5">
                  <c:v>43.8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latin typeface="Segoe U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Injuries by Body Part (sorted)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DC2626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Multiple</c:v>
                </c:pt>
                <c:pt idx="1">
                  <c:v>Back</c:v>
                </c:pt>
                <c:pt idx="2">
                  <c:v>Hand/Finger</c:v>
                </c:pt>
                <c:pt idx="3">
                  <c:v>Eye</c:v>
                </c:pt>
                <c:pt idx="4">
                  <c:v>Foot/Leg</c:v>
                </c:pt>
                <c:pt idx="5">
                  <c:v>Head</c:v>
                </c:pt>
                <c:pt idx="6">
                  <c:v>Arm</c:v>
                </c:pt>
                <c:pt idx="7">
                  <c:v>Torso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</c:v>
                </c:pt>
                <c:pt idx="1">
                  <c:v>8</c:v>
                </c:pt>
                <c:pt idx="2">
                  <c:v>7</c:v>
                </c:pt>
                <c:pt idx="3">
                  <c:v>6</c:v>
                </c:pt>
                <c:pt idx="4">
                  <c:v>6</c:v>
                </c:pt>
                <c:pt idx="5">
                  <c:v>5</c:v>
                </c:pt>
                <c:pt idx="6">
                  <c:v>4</c:v>
                </c:pt>
                <c:pt idx="7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Relationship Id="rId6" Type="http://schemas.openxmlformats.org/officeDocument/2006/relationships/chart" Target="../charts/char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RCPL INTEGRATED EHS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FE0F0"/>
                </a:solidFill>
                <a:latin typeface="Segoe UI"/>
              </a:defRPr>
            </a:pPr>
            <a:r>
              <a:t>Executive &amp; Leadership Safety Review  ·  Reliance Consumer Products Ltd  ·  Campa Cola CSD Plant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931920"/>
            <a:ext cx="3931920" cy="381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CFE0F0"/>
                </a:solidFill>
                <a:latin typeface="Segoe UI"/>
              </a:defRPr>
            </a:pPr>
            <a:r>
              <a:t>Every chart in this deck is a native PowerPoint chart — right-click any chart → Edit Data to change the numbers, the chart redraws automatically.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🧭  CORPORATE SAFETY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Headline KPIs for this reporting period  ·  RAG-style corporate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6974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9794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TRIR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2.2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≤ 1.0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34440"/>
            <a:ext cx="26974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129794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LTIFR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1.0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≤ 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234440"/>
            <a:ext cx="269748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29794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TOTAL INCIDENTS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48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12-month total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1234440"/>
            <a:ext cx="26974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0" y="129794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LOST DAYS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699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12-month total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880360"/>
            <a:ext cx="2697480" cy="63500"/>
          </a:xfrm>
          <a:prstGeom prst="rect">
            <a:avLst/>
          </a:prstGeom>
          <a:solidFill>
            <a:srgbClr val="1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294386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TRAINING COMPLIANCE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45.8%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≥ 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880360"/>
            <a:ext cx="2697480" cy="63500"/>
          </a:xfrm>
          <a:prstGeom prst="rect">
            <a:avLst/>
          </a:prstGeom>
          <a:solidFill>
            <a:srgbClr val="1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294386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OBS CLOSURE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39.6%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≥ 90%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2880360"/>
            <a:ext cx="2697480" cy="63500"/>
          </a:xfrm>
          <a:prstGeom prst="rect">
            <a:avLst/>
          </a:prstGeom>
          <a:solidFill>
            <a:srgbClr val="1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294386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CA CLOSURE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41.7%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≥ 90%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2880360"/>
            <a:ext cx="2697480" cy="63500"/>
          </a:xfrm>
          <a:prstGeom prst="rect">
            <a:avLst/>
          </a:prstGeom>
          <a:solidFill>
            <a:srgbClr val="0B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294386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NEAR MISS (LEADING)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30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Higher reporting = healthier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14800"/>
            <a:ext cx="11521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1000">
                <a:solidFill>
                  <a:srgbClr val="334155"/>
                </a:solidFill>
                <a:latin typeface="Segoe UI"/>
              </a:defRPr>
            </a:pPr>
            <a:r>
              <a:t>Scorecard reads left-to-right, worst-first: lagging outcomes (red strip) on the top row, leading/proactive indicators (green/blue strip) on the bottom row.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20040" y="4663440"/>
          <a:ext cx="5669280" cy="1965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172200" y="4663440"/>
          <a:ext cx="566928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📈  12-MONTH TREND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Incident volume, injury rate and leading-vs-lagging 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143000"/>
          <a:ext cx="566928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143000"/>
          <a:ext cx="566928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3931920"/>
          <a:ext cx="5669280" cy="26517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3931920"/>
            <a:ext cx="5669280" cy="914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1000">
                <a:solidFill>
                  <a:srgbClr val="334155"/>
                </a:solidFill>
                <a:latin typeface="Segoe UI"/>
              </a:defRPr>
            </a:pPr>
            <a:r>
              <a:t>Leading:Lagging ratio this year: 6.0 proactive activities for every reported incident. World-class programs track this ratio explicitly, not just the incident count.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172200" y="4983480"/>
          <a:ext cx="5669280" cy="16002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🏭  DEPARTMENT PERFORMANCE &amp;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Sorted worst-first, per dashboard-design best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143000"/>
          <a:ext cx="566928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143000"/>
          <a:ext cx="566928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72200" y="3931920"/>
          <a:ext cx="5669280" cy="26517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🎯  COMPLIANCE GAUGES &amp; SYSTEM HEALTH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Target attainment across the safety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143000"/>
          <a:ext cx="265176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2108200"/>
            <a:ext cx="265176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F3D6E"/>
                </a:solidFill>
                <a:latin typeface="Segoe UI"/>
              </a:defRPr>
            </a:pPr>
            <a:r>
              <a:t>46%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081528" y="1143000"/>
          <a:ext cx="265176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081528" y="2108200"/>
            <a:ext cx="265176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F3D6E"/>
                </a:solidFill>
                <a:latin typeface="Segoe UI"/>
              </a:defRPr>
            </a:pPr>
            <a:r>
              <a:t>40%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843016" y="1143000"/>
          <a:ext cx="265176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843016" y="2108200"/>
            <a:ext cx="265176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F3D6E"/>
                </a:solidFill>
                <a:latin typeface="Segoe UI"/>
              </a:defRPr>
            </a:pPr>
            <a:r>
              <a:t>42%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604504" y="1143000"/>
          <a:ext cx="265176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604504" y="2108200"/>
            <a:ext cx="265176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F3D6E"/>
                </a:solidFill>
                <a:latin typeface="Segoe UI"/>
              </a:defRPr>
            </a:pPr>
            <a:r>
              <a:t>48%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320040" y="3657600"/>
          <a:ext cx="5669280" cy="29260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5" name="Rectangle 14"/>
          <p:cNvSpPr/>
          <p:nvPr/>
        </p:nvSpPr>
        <p:spPr>
          <a:xfrm>
            <a:off x="6172200" y="3657600"/>
            <a:ext cx="566928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1000">
                <a:solidFill>
                  <a:srgbClr val="334155"/>
                </a:solidFill>
                <a:latin typeface="Segoe UI"/>
              </a:defRPr>
            </a:pPr>
            <a:r>
              <a:t>Reading the gauges: a needle at 100% means fully compliant this period. World-class plants keep every gauge above 90%% and treat two consecutive months below target as an automatic leadership review trigger.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4800600"/>
            <a:ext cx="56692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4864100"/>
            <a:ext cx="5669280" cy="16738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RECORDABLE INCIDENTS (12-MONTH)</a:t>
            </a:r>
          </a:p>
          <a:p>
            <a:pPr>
              <a:defRPr sz="4000" b="1">
                <a:solidFill>
                  <a:srgbClr val="0F3D6E"/>
                </a:solidFill>
                <a:latin typeface="Segoe UI"/>
              </a:defRPr>
            </a:pPr>
            <a:r>
              <a:t>11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Medical Treatment + Restricted Work + LTI + Fatality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🧍  BODY INJURY MAPPING &amp; SAFETY 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Where injuries occur on the body (12-month, real data) — front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sp>
        <p:nvSpPr>
          <p:cNvPr id="6" name="Oval 5"/>
          <p:cNvSpPr/>
          <p:nvPr/>
        </p:nvSpPr>
        <p:spPr>
          <a:xfrm>
            <a:off x="1234440" y="1234440"/>
            <a:ext cx="822960" cy="822960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08760" y="2011680"/>
            <a:ext cx="274320" cy="18288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148840"/>
            <a:ext cx="1280160" cy="1737360"/>
          </a:xfrm>
          <a:prstGeom prst="round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2240280"/>
            <a:ext cx="365760" cy="1554480"/>
          </a:xfrm>
          <a:prstGeom prst="round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31719" y="2240280"/>
            <a:ext cx="365760" cy="1554480"/>
          </a:xfrm>
          <a:prstGeom prst="round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457200" cy="457200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0" y="3749040"/>
            <a:ext cx="457200" cy="457200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7280" y="3840480"/>
            <a:ext cx="502920" cy="1828800"/>
          </a:xfrm>
          <a:prstGeom prst="round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91640" y="3840480"/>
            <a:ext cx="502920" cy="1828800"/>
          </a:xfrm>
          <a:prstGeom prst="round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5577840"/>
            <a:ext cx="502920" cy="320040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83080" y="5577840"/>
            <a:ext cx="502920" cy="320040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8176" y="1408176"/>
            <a:ext cx="475488" cy="475488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1901952"/>
            <a:ext cx="129844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Head</a:t>
            </a:r>
          </a:p>
        </p:txBody>
      </p:sp>
      <p:sp>
        <p:nvSpPr>
          <p:cNvPr id="19" name="Oval 18"/>
          <p:cNvSpPr/>
          <p:nvPr/>
        </p:nvSpPr>
        <p:spPr>
          <a:xfrm>
            <a:off x="1806854" y="1121054"/>
            <a:ext cx="501091" cy="501091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2534" y="1640433"/>
            <a:ext cx="132405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Eye</a:t>
            </a:r>
          </a:p>
        </p:txBody>
      </p:sp>
      <p:sp>
        <p:nvSpPr>
          <p:cNvPr id="21" name="Oval 20"/>
          <p:cNvSpPr/>
          <p:nvPr/>
        </p:nvSpPr>
        <p:spPr>
          <a:xfrm>
            <a:off x="1459382" y="2785262"/>
            <a:ext cx="373075" cy="373075"/>
          </a:xfrm>
          <a:prstGeom prst="ellipse">
            <a:avLst/>
          </a:prstGeom>
          <a:solidFill>
            <a:srgbClr val="F59E0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062" y="3176625"/>
            <a:ext cx="1196035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Torso/Chest</a:t>
            </a:r>
          </a:p>
        </p:txBody>
      </p:sp>
      <p:sp>
        <p:nvSpPr>
          <p:cNvPr id="23" name="Oval 22"/>
          <p:cNvSpPr/>
          <p:nvPr/>
        </p:nvSpPr>
        <p:spPr>
          <a:xfrm>
            <a:off x="1369771" y="3244291"/>
            <a:ext cx="552297" cy="552297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451" y="3814876"/>
            <a:ext cx="1375257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Back (rear)</a:t>
            </a:r>
          </a:p>
        </p:txBody>
      </p:sp>
      <p:sp>
        <p:nvSpPr>
          <p:cNvPr id="25" name="Oval 24"/>
          <p:cNvSpPr/>
          <p:nvPr/>
        </p:nvSpPr>
        <p:spPr>
          <a:xfrm>
            <a:off x="2289658" y="2792578"/>
            <a:ext cx="449884" cy="449884"/>
          </a:xfrm>
          <a:prstGeom prst="ellipse">
            <a:avLst/>
          </a:prstGeom>
          <a:solidFill>
            <a:srgbClr val="0B6EA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5338" y="3260750"/>
            <a:ext cx="12728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Arm</a:t>
            </a:r>
          </a:p>
        </p:txBody>
      </p:sp>
      <p:sp>
        <p:nvSpPr>
          <p:cNvPr id="27" name="Oval 26"/>
          <p:cNvSpPr/>
          <p:nvPr/>
        </p:nvSpPr>
        <p:spPr>
          <a:xfrm>
            <a:off x="2251253" y="3714293"/>
            <a:ext cx="526694" cy="526694"/>
          </a:xfrm>
          <a:prstGeom prst="ellipse">
            <a:avLst/>
          </a:prstGeom>
          <a:solidFill>
            <a:srgbClr val="D7192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76933" y="4259275"/>
            <a:ext cx="134965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Hand/Finger</a:t>
            </a:r>
          </a:p>
        </p:txBody>
      </p:sp>
      <p:sp>
        <p:nvSpPr>
          <p:cNvPr id="29" name="Oval 28"/>
          <p:cNvSpPr/>
          <p:nvPr/>
        </p:nvSpPr>
        <p:spPr>
          <a:xfrm>
            <a:off x="1669694" y="4550054"/>
            <a:ext cx="501091" cy="501091"/>
          </a:xfrm>
          <a:prstGeom prst="ellipse">
            <a:avLst/>
          </a:prstGeom>
          <a:solidFill>
            <a:srgbClr val="33415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5374" y="5069433"/>
            <a:ext cx="132405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34155"/>
                </a:solidFill>
                <a:latin typeface="Segoe UI"/>
              </a:defRPr>
            </a:pPr>
            <a:r>
              <a:t>Foot/Leg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989320"/>
            <a:ext cx="3931920" cy="685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900">
                <a:solidFill>
                  <a:srgbClr val="334155"/>
                </a:solidFill>
                <a:latin typeface="Segoe UI"/>
              </a:defRPr>
            </a:pPr>
            <a:r>
              <a:t>"Multiple": 11 incidents involved more than one body region (shown separately, cannot be pinned to a single marker) — these are typically the most serious cases and warrant priority root-cause review.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4160520" y="1234440"/>
          <a:ext cx="352044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ectangle 32"/>
          <p:cNvSpPr/>
          <p:nvPr/>
        </p:nvSpPr>
        <p:spPr>
          <a:xfrm>
            <a:off x="4160520" y="4160520"/>
            <a:ext cx="3520440" cy="17373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950">
                <a:solidFill>
                  <a:srgbClr val="334155"/>
                </a:solidFill>
                <a:latin typeface="Segoe UI"/>
              </a:defRPr>
            </a:pPr>
            <a:r>
              <a:t>Reading this: markers are sized by count — the bigger the circle, the more injuries recorded at that location. Back and Hand/Finger are this period's priority zones for targeted PPE/ergonomics review.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93579" y="1234440"/>
            <a:ext cx="655320" cy="800100"/>
          </a:xfrm>
          <a:prstGeom prst="rect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Fatality — 1 (2%)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65919" y="2072640"/>
            <a:ext cx="1310640" cy="800100"/>
          </a:xfrm>
          <a:prstGeom prst="rect">
            <a:avLst/>
          </a:prstGeom>
          <a:solidFill>
            <a:srgbClr val="B91C1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Lost Time Injury — 0 (0%)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38259" y="2910840"/>
            <a:ext cx="1965960" cy="800100"/>
          </a:xfrm>
          <a:prstGeom prst="rect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Restricted Work — 5 (10%)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10599" y="3749040"/>
            <a:ext cx="2621280" cy="800100"/>
          </a:xfrm>
          <a:prstGeom prst="rect">
            <a:avLst/>
          </a:prstGeom>
          <a:solidFill>
            <a:srgbClr val="F59E0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Medical Treatment — 5 (10%)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2939" y="4587240"/>
            <a:ext cx="3276600" cy="800100"/>
          </a:xfrm>
          <a:prstGeom prst="rect">
            <a:avLst/>
          </a:prstGeom>
          <a:solidFill>
            <a:srgbClr val="FDE04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First Aid — 7 (15%)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79" y="5425440"/>
            <a:ext cx="3931920" cy="800100"/>
          </a:xfrm>
          <a:prstGeom prst="rect">
            <a:avLst/>
          </a:prstGeom>
          <a:solidFill>
            <a:srgbClr val="15A3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Near Miss — 30 (62%)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⏱  RISK MATRIX, INJURY-RATE GAUGES &amp; DAYS-SINCE-INCIDENT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Risk matrix from real data; days-since-incident is an illustrative sample counter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3383280" cy="2194560"/>
          </a:xfrm>
          <a:prstGeom prst="roundRect">
            <a:avLst/>
          </a:prstGeom>
          <a:solidFill>
            <a:srgbClr val="1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400" b="1">
                <a:solidFill>
                  <a:srgbClr val="FFFFFF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DAYS SINCE LAST LOST-TIME INCIDENT  (illustrative)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141732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4155"/>
                </a:solidFill>
                <a:latin typeface="Segoe UI"/>
              </a:defRPr>
            </a:pPr>
            <a:r>
              <a:t>TRIR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764792"/>
            <a:ext cx="1188720" cy="457200"/>
          </a:xfrm>
          <a:prstGeom prst="rect">
            <a:avLst/>
          </a:prstGeom>
          <a:solidFill>
            <a:srgbClr val="1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1764792"/>
            <a:ext cx="59436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1764792"/>
            <a:ext cx="178308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764792"/>
            <a:ext cx="3566160" cy="457200"/>
          </a:xfrm>
          <a:prstGeom prst="rect">
            <a:avLst/>
          </a:prstGeom>
          <a:noFill/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6693408" y="1618488"/>
            <a:ext cx="164592" cy="146304"/>
          </a:xfrm>
          <a:prstGeom prst="triangl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276856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F3D6E"/>
                </a:solidFill>
                <a:latin typeface="Segoe UI"/>
              </a:defRPr>
            </a:pPr>
            <a:r>
              <a:t>2.20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41732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4155"/>
                </a:solidFill>
                <a:latin typeface="Segoe UI"/>
              </a:defRPr>
            </a:pPr>
            <a:r>
              <a:t>LTIFR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764792"/>
            <a:ext cx="1783080" cy="457200"/>
          </a:xfrm>
          <a:prstGeom prst="rect">
            <a:avLst/>
          </a:prstGeom>
          <a:solidFill>
            <a:srgbClr val="1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75520" y="1764792"/>
            <a:ext cx="8915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67060" y="1764792"/>
            <a:ext cx="89154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764792"/>
            <a:ext cx="3566160" cy="457200"/>
          </a:xfrm>
          <a:prstGeom prst="rect">
            <a:avLst/>
          </a:prstGeom>
          <a:noFill/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8901684" y="1618488"/>
            <a:ext cx="164592" cy="146304"/>
          </a:xfrm>
          <a:prstGeom prst="triangl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276856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F3D6E"/>
                </a:solidFill>
                <a:latin typeface="Segoe UI"/>
              </a:defRPr>
            </a:pPr>
            <a:r>
              <a:t>1.00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2514600"/>
            <a:ext cx="7498079" cy="5029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950">
                <a:solidFill>
                  <a:srgbClr val="334155"/>
                </a:solidFill>
                <a:latin typeface="Segoe UI"/>
              </a:defRPr>
            </a:pPr>
            <a:r>
              <a:t>Bullet-graph reading: the triangle marker shows this period's actual value against green/amber/red performance zones — a faster read than a plain number for a board-level audience.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83280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3D6E"/>
                </a:solidFill>
                <a:latin typeface="Segoe UI"/>
              </a:defRPr>
            </a:pPr>
            <a:r>
              <a:t>INCIDENT RISK RATING × DEPARTMENT  (real data, 12-month)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675888"/>
            <a:ext cx="7315200" cy="25400"/>
          </a:xfrm>
          <a:prstGeom prst="rect">
            <a:avLst/>
          </a:prstGeom>
          <a:solidFill>
            <a:srgbClr val="0B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3794760"/>
          <a:ext cx="749807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154"/>
                <a:gridCol w="1071154"/>
                <a:gridCol w="1071154"/>
                <a:gridCol w="1071154"/>
                <a:gridCol w="1071154"/>
                <a:gridCol w="1071154"/>
                <a:gridCol w="1071155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Risk \ Dept</a:t>
                      </a:r>
                    </a:p>
                  </a:txBody>
                  <a:tcPr>
                    <a:solidFill>
                      <a:srgbClr val="0F3D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0F3D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Constructi</a:t>
                      </a:r>
                    </a:p>
                  </a:txBody>
                  <a:tcPr>
                    <a:solidFill>
                      <a:srgbClr val="0F3D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F3D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Engineerin</a:t>
                      </a:r>
                    </a:p>
                  </a:txBody>
                  <a:tcPr>
                    <a:solidFill>
                      <a:srgbClr val="0F3D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Logistics</a:t>
                      </a:r>
                    </a:p>
                  </a:txBody>
                  <a:tcPr>
                    <a:solidFill>
                      <a:srgbClr val="0F3D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Maintenanc</a:t>
                      </a:r>
                    </a:p>
                  </a:txBody>
                  <a:tcPr>
                    <a:solidFill>
                      <a:srgbClr val="0F3D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D3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D3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D3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D3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D3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D3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D3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CD34D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8229600" y="3794760"/>
            <a:ext cx="3429000" cy="23774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950">
                <a:solidFill>
                  <a:srgbClr val="334155"/>
                </a:solidFill>
                <a:latin typeface="Segoe UI"/>
              </a:defRPr>
            </a:pPr>
            <a:r>
              <a:t>Darker red = more incidents at that Risk Rating × Department intersection. This is the same cross-tab as the Excel workbook's Risk Heat Map, redrawn as a boardroom-ready table — every cell is directly editable (click once, type a new number).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🔎  KEY INSIGHTS FOR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Auto-generated from this period's data — edit freely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TRIR is 2.20 and LTIFR is 1.00 against targets of ≤1.0 and ≤2.0 — requires attention.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Construction has the lowest department safety score (64/100) — recommend a focused review of training, observation-closure and CA-closure rates there. Engineering leads at 97/100.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328416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"Inadequate Procedure" is the leading root cause (13 of 48 incidents) — a targeted corrective-action campaign here would have outsized impact on next quarter's TRIR.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352544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Training Compliance (45.8%), Obs Closure (39.6%) and CA Closure (41.7%) are all below the 90-95% world-class benchmark — these are the levers that move TRIR down over the next 2 quarters.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76672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Leading:Lagging ratio is 6.0:1 this year — 288 proactive activities recorded against 48 incidents.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📋  HOW TO USE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Corporate review format — fully editable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/>
          <a:lstStyle/>
          <a:p>
            <a:pPr algn="ctr">
              <a:defRPr sz="1350">
                <a:solidFill>
                  <a:srgbClr val="334155"/>
                </a:solidFill>
                <a:latin typeface="Segoe UI"/>
              </a:defRPr>
            </a:pPr>
            <a:r>
              <a:t>Right-click any chart → "Edit Data" (opens a mini Excel sheet) → change a number → the chart redraws instantly.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11064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/>
          <a:lstStyle/>
          <a:p>
            <a:pPr algn="ctr">
              <a:defRPr sz="1350">
                <a:solidFill>
                  <a:srgbClr val="334155"/>
                </a:solidFill>
                <a:latin typeface="Segoe UI"/>
              </a:defRPr>
            </a:pPr>
            <a:r>
              <a:t>All KPI-card numbers and insight text are plain text boxes — click once to select, click again to edit.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11064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/>
          <a:lstStyle/>
          <a:p>
            <a:pPr algn="ctr">
              <a:defRPr sz="1350">
                <a:solidFill>
                  <a:srgbClr val="334155"/>
                </a:solidFill>
                <a:latin typeface="Segoe UI"/>
              </a:defRPr>
            </a:pPr>
            <a:r>
              <a:t>This deck reflects the same underlying dataset as the RCPL Integrated EHS Excel system and the web app in progress — use whichever format suits the meeting: this PPT for a board readout, the web app for live daily/monthly entry.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74920"/>
            <a:ext cx="11064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/>
          <a:lstStyle/>
          <a:p>
            <a:pPr algn="ctr">
              <a:defRPr sz="1350">
                <a:solidFill>
                  <a:srgbClr val="334155"/>
                </a:solidFill>
                <a:latin typeface="Segoe UI"/>
              </a:defRPr>
            </a:pPr>
            <a:r>
              <a:t>Recommended cadence: refresh this deck monthly from the web app's export, or ask me to regenerate it any time your data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