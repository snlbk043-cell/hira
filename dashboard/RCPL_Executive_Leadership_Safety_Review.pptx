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Incident Severity Pyramid (Heinrich)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Fatality</c:v>
                </c:pt>
                <c:pt idx="1">
                  <c:v>Lost Time Injury</c:v>
                </c:pt>
                <c:pt idx="2">
                  <c:v>Restricted Work</c:v>
                </c:pt>
                <c:pt idx="3">
                  <c:v>Medical Treatment</c:v>
                </c:pt>
                <c:pt idx="4">
                  <c:v>First Aid</c:v>
                </c:pt>
                <c:pt idx="5">
                  <c:v>Near Miss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5</c:v>
                </c:pt>
                <c:pt idx="3">
                  <c:v>5</c:v>
                </c:pt>
                <c:pt idx="4">
                  <c:v>7</c:v>
                </c:pt>
                <c:pt idx="5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Incident Classification Mix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DC2626"/>
              </a:solidFill>
            </c:spPr>
          </c:dPt>
          <c:dPt>
            <c:idx val="1"/>
            <c:spPr>
              <a:solidFill>
                <a:srgbClr val="EA580C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EAB308"/>
              </a:solidFill>
            </c:spPr>
          </c:dPt>
          <c:dPt>
            <c:idx val="4"/>
            <c:spPr>
              <a:solidFill>
                <a:srgbClr val="15A34A"/>
              </a:solidFill>
            </c:spPr>
          </c:dPt>
          <c:dPt>
            <c:idx val="5"/>
            <c:spPr>
              <a:solidFill>
                <a:srgbClr val="0B6EA8"/>
              </a:solidFill>
            </c:spPr>
          </c:dPt>
          <c:cat>
            <c:strRef>
              <c:f>Sheet1!$A$2:$A$7</c:f>
              <c:strCache>
                <c:ptCount val="6"/>
                <c:pt idx="0">
                  <c:v>Fatality</c:v>
                </c:pt>
                <c:pt idx="1">
                  <c:v>Lost Time Injury</c:v>
                </c:pt>
                <c:pt idx="2">
                  <c:v>Restricted Work</c:v>
                </c:pt>
                <c:pt idx="3">
                  <c:v>Medical Treatment</c:v>
                </c:pt>
                <c:pt idx="4">
                  <c:v>First Aid</c:v>
                </c:pt>
                <c:pt idx="5">
                  <c:v>Near Miss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5</c:v>
                </c:pt>
                <c:pt idx="3">
                  <c:v>5</c:v>
                </c:pt>
                <c:pt idx="4">
                  <c:v>7</c:v>
                </c:pt>
                <c:pt idx="5">
                  <c:v>30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Monthly Incident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</c:v>
                </c:pt>
              </c:strCache>
            </c:strRef>
          </c:tx>
          <c:spPr>
            <a:ln w="28575">
              <a:solidFill>
                <a:srgbClr val="0F3D6E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5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  <c:pt idx="8">
                  <c:v>5</c:v>
                </c:pt>
                <c:pt idx="9">
                  <c:v>2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TRIR &amp; LTIFR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TRIR</c:v>
                </c:pt>
              </c:strCache>
            </c:strRef>
          </c:tx>
          <c:spPr>
            <a:ln w="28575">
              <a:solidFill>
                <a:srgbClr val="DC2626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2.4</c:v>
                </c:pt>
                <c:pt idx="3">
                  <c:v>7.2</c:v>
                </c:pt>
                <c:pt idx="4">
                  <c:v>7.2</c:v>
                </c:pt>
                <c:pt idx="5">
                  <c:v>0.0</c:v>
                </c:pt>
                <c:pt idx="6">
                  <c:v>2.4</c:v>
                </c:pt>
                <c:pt idx="7">
                  <c:v>0.0</c:v>
                </c:pt>
                <c:pt idx="8">
                  <c:v>2.4</c:v>
                </c:pt>
                <c:pt idx="9">
                  <c:v>0.0</c:v>
                </c:pt>
                <c:pt idx="10">
                  <c:v>2.4</c:v>
                </c:pt>
                <c:pt idx="11">
                  <c:v>2.4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LTIFR</c:v>
                </c:pt>
              </c:strCache>
            </c:strRef>
          </c:tx>
          <c:spPr>
            <a:ln w="28575">
              <a:solidFill>
                <a:srgbClr val="D71920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12.0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Leading vs Lagging Activity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Leading (Toolbox+Training+Obs+Insp)</c:v>
                </c:pt>
              </c:strCache>
            </c:strRef>
          </c:tx>
          <c:spPr>
            <a:ln w="28575">
              <a:solidFill>
                <a:srgbClr val="15A34A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32</c:v>
                </c:pt>
                <c:pt idx="2">
                  <c:v>26</c:v>
                </c:pt>
                <c:pt idx="3">
                  <c:v>17</c:v>
                </c:pt>
                <c:pt idx="4">
                  <c:v>24</c:v>
                </c:pt>
                <c:pt idx="5">
                  <c:v>26</c:v>
                </c:pt>
                <c:pt idx="6">
                  <c:v>34</c:v>
                </c:pt>
                <c:pt idx="7">
                  <c:v>26</c:v>
                </c:pt>
                <c:pt idx="8">
                  <c:v>16</c:v>
                </c:pt>
                <c:pt idx="9">
                  <c:v>21</c:v>
                </c:pt>
                <c:pt idx="10">
                  <c:v>30</c:v>
                </c:pt>
                <c:pt idx="11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Lagging (Incidents)</c:v>
                </c:pt>
              </c:strCache>
            </c:strRef>
          </c:tx>
          <c:spPr>
            <a:ln w="28575">
              <a:solidFill>
                <a:srgbClr val="DC2626"/>
              </a:solidFill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</c:v>
                </c:pt>
                <c:pt idx="1">
                  <c:v>5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  <c:pt idx="8">
                  <c:v>5</c:v>
                </c:pt>
                <c:pt idx="9">
                  <c:v>2</c:v>
                </c:pt>
                <c:pt idx="10">
                  <c:v>3</c:v>
                </c:pt>
                <c:pt idx="11">
                  <c:v>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Inspections by Month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Inspections</c:v>
                </c:pt>
              </c:strCache>
            </c:strRef>
          </c:tx>
          <c:spPr>
            <a:solidFill>
              <a:srgbClr val="0B6EA8"/>
            </a:solidFill>
            <a:ln>
              <a:noFill/>
            </a:ln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13</c:v>
                </c:pt>
                <c:pt idx="2">
                  <c:v>11</c:v>
                </c:pt>
                <c:pt idx="3">
                  <c:v>8</c:v>
                </c:pt>
                <c:pt idx="4">
                  <c:v>10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10</c:v>
                </c:pt>
                <c:pt idx="9">
                  <c:v>10</c:v>
                </c:pt>
                <c:pt idx="10">
                  <c:v>12</c:v>
                </c:pt>
                <c:pt idx="11">
                  <c:v>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Department Safety Score (low → high)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B6EA8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Construction</c:v>
                </c:pt>
                <c:pt idx="1">
                  <c:v>Logistics</c:v>
                </c:pt>
                <c:pt idx="2">
                  <c:v>Contractor</c:v>
                </c:pt>
                <c:pt idx="3">
                  <c:v>Safety</c:v>
                </c:pt>
                <c:pt idx="4">
                  <c:v>Admin</c:v>
                </c:pt>
                <c:pt idx="5">
                  <c:v>Operations</c:v>
                </c:pt>
                <c:pt idx="6">
                  <c:v>Maintenance</c:v>
                </c:pt>
                <c:pt idx="7">
                  <c:v>Quality</c:v>
                </c:pt>
                <c:pt idx="8">
                  <c:v>Projects</c:v>
                </c:pt>
                <c:pt idx="9">
                  <c:v>Engineering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</c:v>
                </c:pt>
                <c:pt idx="1">
                  <c:v>78</c:v>
                </c:pt>
                <c:pt idx="2">
                  <c:v>80</c:v>
                </c:pt>
                <c:pt idx="3">
                  <c:v>84</c:v>
                </c:pt>
                <c:pt idx="4">
                  <c:v>89</c:v>
                </c:pt>
                <c:pt idx="5">
                  <c:v>92</c:v>
                </c:pt>
                <c:pt idx="6">
                  <c:v>94</c:v>
                </c:pt>
                <c:pt idx="7">
                  <c:v>94</c:v>
                </c:pt>
                <c:pt idx="8">
                  <c:v>96</c:v>
                </c:pt>
                <c:pt idx="9">
                  <c:v>97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Root Cause Pareto (Incidents)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DC2626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Inadequate Procedure</c:v>
                </c:pt>
                <c:pt idx="1">
                  <c:v>Unsafe Condition</c:v>
                </c:pt>
                <c:pt idx="2">
                  <c:v>Equipment Failure</c:v>
                </c:pt>
                <c:pt idx="3">
                  <c:v>Unsafe Act</c:v>
                </c:pt>
                <c:pt idx="4">
                  <c:v>Human Error</c:v>
                </c:pt>
                <c:pt idx="5">
                  <c:v>Poor Housekeeping</c:v>
                </c:pt>
                <c:pt idx="6">
                  <c:v>Lack of Training</c:v>
                </c:pt>
                <c:pt idx="7">
                  <c:v>PPE Not Used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5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PTW Audit Verdict Mix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5A34A"/>
              </a:solidFill>
            </c:spPr>
          </c:dPt>
          <c:dPt>
            <c:idx val="1"/>
            <c:spPr>
              <a:solidFill>
                <a:srgbClr val="DC2626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Compliant</c:v>
                </c:pt>
                <c:pt idx="1">
                  <c:v>Non-Compliant</c:v>
                </c:pt>
                <c:pt idx="2">
                  <c:v>Partially Compliant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latin typeface="Segoe U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>
                <a:solidFill>
                  <a:srgbClr val="0F3D6E"/>
                </a:solidFill>
              </a:defRPr>
            </a:pPr>
            <a:r>
              <a:t>Training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5A34A"/>
              </a:solidFill>
            </c:spPr>
          </c:dPt>
          <c:dPt>
            <c:idx val="1"/>
            <c:spPr>
              <a:solidFill>
                <a:srgbClr val="F1F5F9"/>
              </a:solidFill>
            </c:spPr>
          </c:dPt>
          <c:cat>
            <c:strRef>
              <c:f>Sheet1!$A$2:$A$3</c:f>
              <c:strCache>
                <c:ptCount val="2"/>
                <c:pt idx="0">
                  <c:v>Actual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45.8</c:v>
                </c:pt>
                <c:pt idx="1">
                  <c:v>54.2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>
                <a:solidFill>
                  <a:srgbClr val="0F3D6E"/>
                </a:solidFill>
              </a:defRPr>
            </a:pPr>
            <a:r>
              <a:t>Obs Closure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0B6EA8"/>
              </a:solidFill>
            </c:spPr>
          </c:dPt>
          <c:dPt>
            <c:idx val="1"/>
            <c:spPr>
              <a:solidFill>
                <a:srgbClr val="F1F5F9"/>
              </a:solidFill>
            </c:spPr>
          </c:dPt>
          <c:cat>
            <c:strRef>
              <c:f>Sheet1!$A$2:$A$3</c:f>
              <c:strCache>
                <c:ptCount val="2"/>
                <c:pt idx="0">
                  <c:v>Actual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39.6</c:v>
                </c:pt>
                <c:pt idx="1">
                  <c:v>60.4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>
                <a:solidFill>
                  <a:srgbClr val="0F3D6E"/>
                </a:solidFill>
              </a:defRPr>
            </a:pPr>
            <a:r>
              <a:t>CA Closure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15A34A"/>
              </a:solidFill>
            </c:spPr>
          </c:dPt>
          <c:dPt>
            <c:idx val="1"/>
            <c:spPr>
              <a:solidFill>
                <a:srgbClr val="F1F5F9"/>
              </a:solidFill>
            </c:spPr>
          </c:dPt>
          <c:cat>
            <c:strRef>
              <c:f>Sheet1!$A$2:$A$3</c:f>
              <c:strCache>
                <c:ptCount val="2"/>
                <c:pt idx="0">
                  <c:v>Actual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41.7</c:v>
                </c:pt>
                <c:pt idx="1">
                  <c:v>58.3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>
                <a:solidFill>
                  <a:srgbClr val="0F3D6E"/>
                </a:solidFill>
              </a:defRPr>
            </a:pPr>
            <a:r>
              <a:t>PTW Compliance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F1F5F9"/>
              </a:solidFill>
            </c:spPr>
          </c:dPt>
          <c:cat>
            <c:strRef>
              <c:f>Sheet1!$A$2:$A$3</c:f>
              <c:strCache>
                <c:ptCount val="2"/>
                <c:pt idx="0">
                  <c:v>Actual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47.9</c:v>
                </c:pt>
                <c:pt idx="1">
                  <c:v>52.1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pPr>
              <a:defRPr sz="1300" b="1">
                <a:solidFill>
                  <a:srgbClr val="0F3D6E"/>
                </a:solidFill>
              </a:defRPr>
            </a:pPr>
            <a:r>
              <a:t>System Health Radar (% of target areas)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</c:v>
                </c:pt>
              </c:strCache>
            </c:strRef>
          </c:tx>
          <c:spPr>
            <a:ln w="25400">
              <a:solidFill>
                <a:srgbClr val="0B6EA8"/>
              </a:solidFill>
            </a:ln>
          </c:spPr>
          <c:cat>
            <c:strRef>
              <c:f>Sheet1!$A$2:$A$7</c:f>
              <c:strCache>
                <c:ptCount val="6"/>
                <c:pt idx="0">
                  <c:v>Training</c:v>
                </c:pt>
                <c:pt idx="1">
                  <c:v>PTW Audit</c:v>
                </c:pt>
                <c:pt idx="2">
                  <c:v>Obs Closure</c:v>
                </c:pt>
                <c:pt idx="3">
                  <c:v>CA Closure</c:v>
                </c:pt>
                <c:pt idx="4">
                  <c:v>JSA Approval</c:v>
                </c:pt>
                <c:pt idx="5">
                  <c:v>Walkthroughs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45.8</c:v>
                </c:pt>
                <c:pt idx="1">
                  <c:v>47.9</c:v>
                </c:pt>
                <c:pt idx="2">
                  <c:v>39.6</c:v>
                </c:pt>
                <c:pt idx="3">
                  <c:v>41.7</c:v>
                </c:pt>
                <c:pt idx="4">
                  <c:v>52.1</c:v>
                </c:pt>
                <c:pt idx="5">
                  <c:v>43.8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Relationship Id="rId6" Type="http://schemas.openxmlformats.org/officeDocument/2006/relationships/chart" Target="../charts/char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RCPL INTEGRATED EHS MANAGEMENT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CFE0F0"/>
                </a:solidFill>
                <a:latin typeface="Segoe UI"/>
              </a:defRPr>
            </a:pPr>
            <a:r>
              <a:t>Executive &amp; Leadership Safety Review  ·  Reliance Consumer Products Ltd  ·  Campa Cola CSD Plant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931920"/>
            <a:ext cx="3931920" cy="381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CFE0F0"/>
                </a:solidFill>
                <a:latin typeface="Segoe UI"/>
              </a:defRPr>
            </a:pPr>
            <a:r>
              <a:t>Every chart in this deck is a native PowerPoint chart — right-click any chart → Edit Data to change the numbers, the chart redraws automatically.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🧭  CORPORATE SAFETY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Headline KPIs for this reporting period  ·  RAG-style corporate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34440"/>
            <a:ext cx="26974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9794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TRIR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2.2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≤ 1.0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34440"/>
            <a:ext cx="26974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129794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LTIFR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1.0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≤ 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234440"/>
            <a:ext cx="269748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29794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TOTAL INCIDENTS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48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12-month total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1234440"/>
            <a:ext cx="26974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0" y="129794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LOST DAYS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699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12-month total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880360"/>
            <a:ext cx="2697480" cy="63500"/>
          </a:xfrm>
          <a:prstGeom prst="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294386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TRAINING COMPLIANCE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45.8%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≥ 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880360"/>
            <a:ext cx="2697480" cy="63500"/>
          </a:xfrm>
          <a:prstGeom prst="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294386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OBS CLOSURE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39.6%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≥ 90%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2880360"/>
            <a:ext cx="2697480" cy="63500"/>
          </a:xfrm>
          <a:prstGeom prst="rect">
            <a:avLst/>
          </a:prstGeom>
          <a:solidFill>
            <a:srgbClr val="15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294386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CA CLOSURE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41.7%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Target ≥ 90%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2880360"/>
            <a:ext cx="2697480" cy="63500"/>
          </a:xfrm>
          <a:prstGeom prst="rect">
            <a:avLst/>
          </a:prstGeom>
          <a:solidFill>
            <a:srgbClr val="0B6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2943860"/>
            <a:ext cx="2697480" cy="13538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NEAR MISS (LEADING)</a:t>
            </a:r>
          </a:p>
          <a:p>
            <a:pPr>
              <a:defRPr sz="3200" b="1">
                <a:solidFill>
                  <a:srgbClr val="0F3D6E"/>
                </a:solidFill>
                <a:latin typeface="Segoe UI"/>
              </a:defRPr>
            </a:pPr>
            <a:r>
              <a:t>30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Higher reporting = healthier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1152144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1000">
                <a:solidFill>
                  <a:srgbClr val="334155"/>
                </a:solidFill>
                <a:latin typeface="Segoe UI"/>
              </a:defRPr>
            </a:pPr>
            <a:r>
              <a:t>Scorecard reads left-to-right, worst-first: lagging outcomes (red strip) on the top row, leading/proactive indicators (green/blue strip) on the bottom row.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320040" y="4663440"/>
          <a:ext cx="5669280" cy="1965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172200" y="4663440"/>
          <a:ext cx="5669280" cy="1965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📈  12-MONTH TREND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Incident volume, injury rate and leading-vs-lagging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143000"/>
          <a:ext cx="566928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143000"/>
          <a:ext cx="566928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3931920"/>
          <a:ext cx="5669280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3931920"/>
            <a:ext cx="5669280" cy="914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1000">
                <a:solidFill>
                  <a:srgbClr val="334155"/>
                </a:solidFill>
                <a:latin typeface="Segoe UI"/>
              </a:defRPr>
            </a:pPr>
            <a:r>
              <a:t>Leading:Lagging ratio this year: 6.0 proactive activities for every reported incident. World-class programs track this ratio explicitly, not just the incident count.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172200" y="4983480"/>
          <a:ext cx="5669280" cy="16002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🏭  DEPARTMENT PERFORMANCE &amp;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Sorted worst-first, per dashboard-design best practice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143000"/>
          <a:ext cx="5669280" cy="5394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143000"/>
          <a:ext cx="566928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72200" y="3931920"/>
          <a:ext cx="5669280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🎯  COMPLIANCE GAUGES &amp; SYSTEM HEALTH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Target attainment across the safety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" y="1143000"/>
          <a:ext cx="265176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2108200"/>
            <a:ext cx="265176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3D6E"/>
                </a:solidFill>
                <a:latin typeface="Segoe UI"/>
              </a:defRPr>
            </a:pPr>
            <a:r>
              <a:t>46%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081528" y="1143000"/>
          <a:ext cx="265176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081528" y="2108200"/>
            <a:ext cx="265176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3D6E"/>
                </a:solidFill>
                <a:latin typeface="Segoe UI"/>
              </a:defRPr>
            </a:pPr>
            <a:r>
              <a:t>40%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843016" y="1143000"/>
          <a:ext cx="265176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843016" y="2108200"/>
            <a:ext cx="265176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3D6E"/>
                </a:solidFill>
                <a:latin typeface="Segoe UI"/>
              </a:defRPr>
            </a:pPr>
            <a:r>
              <a:t>42%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604504" y="1143000"/>
          <a:ext cx="265176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604504" y="2108200"/>
            <a:ext cx="265176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F3D6E"/>
                </a:solidFill>
                <a:latin typeface="Segoe UI"/>
              </a:defRPr>
            </a:pPr>
            <a:r>
              <a:t>48%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320040" y="3657600"/>
          <a:ext cx="5669280" cy="29260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5" name="Rectangle 14"/>
          <p:cNvSpPr/>
          <p:nvPr/>
        </p:nvSpPr>
        <p:spPr>
          <a:xfrm>
            <a:off x="6172200" y="3657600"/>
            <a:ext cx="566928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 rIns="127000"/>
          <a:lstStyle/>
          <a:p>
            <a:pPr algn="ctr">
              <a:defRPr sz="1000">
                <a:solidFill>
                  <a:srgbClr val="334155"/>
                </a:solidFill>
                <a:latin typeface="Segoe UI"/>
              </a:defRPr>
            </a:pPr>
            <a:r>
              <a:t>Reading the gauges: a needle at 100% means fully compliant this period. World-class plants keep every gauge above 90%% and treat two consecutive months below target as an automatic leadership review trigger.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4800600"/>
            <a:ext cx="566928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4864100"/>
            <a:ext cx="5669280" cy="16738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>
              <a:defRPr sz="950" b="1">
                <a:solidFill>
                  <a:srgbClr val="64748B"/>
                </a:solidFill>
                <a:latin typeface="Segoe UI"/>
              </a:defRPr>
            </a:pPr>
            <a:r>
              <a:t>RECORDABLE INCIDENTS (12-MONTH)</a:t>
            </a:r>
          </a:p>
          <a:p>
            <a:pPr>
              <a:defRPr sz="4000" b="1">
                <a:solidFill>
                  <a:srgbClr val="0F3D6E"/>
                </a:solidFill>
                <a:latin typeface="Segoe UI"/>
              </a:defRPr>
            </a:pPr>
            <a:r>
              <a:t>11</a:t>
            </a:r>
          </a:p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Medical Treatment + Restricted Work + LTI + Fatality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🔎  KEY INSIGHTS FOR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Auto-generated from this period's data — edit freely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TRIR is 2.20 and LTIFR is 1.00 against targets of ≤1.0 and ≤2.0 — requires attention.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Construction has the lowest department safety score (64/100) — recommend a focused review of training, observation-closure and CA-closure rates there. Engineering leads at 97/100.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328416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"Inadequate Procedure" is the leading root cause (13 of 48 incidents) — a targeted corrective-action campaign here would have outsized impact on next quarter's TRIR.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352544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Training Compliance (45.8%), Obs Closure (39.6%) and CA Closure (41.7%) are all below the 90-95% world-class benchmark — these are the levers that move TRIR down over the next 2 quarters.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76672"/>
            <a:ext cx="11247120" cy="8961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 rIns="177800"/>
          <a:lstStyle/>
          <a:p>
            <a:pPr algn="ctr">
              <a:defRPr sz="1300">
                <a:solidFill>
                  <a:srgbClr val="334155"/>
                </a:solidFill>
                <a:latin typeface="Segoe UI"/>
              </a:defRPr>
            </a:pPr>
            <a:r>
              <a:t>•  Leading:Lagging ratio is 6.0:1 this year — 288 proactive activities recorded against 48 incidents.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3D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📋  HOW TO USE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FE0F0"/>
                </a:solidFill>
                <a:latin typeface="Segoe UI"/>
              </a:defRPr>
            </a:pPr>
            <a:r>
              <a:t>Corporate review format — fully editable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0" y="137160"/>
            <a:ext cx="1737360" cy="685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RCPL · Campa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/>
          <a:lstStyle/>
          <a:p>
            <a:pPr algn="ctr">
              <a:defRPr sz="1350">
                <a:solidFill>
                  <a:srgbClr val="334155"/>
                </a:solidFill>
                <a:latin typeface="Segoe UI"/>
              </a:defRPr>
            </a:pPr>
            <a:r>
              <a:t>Right-click any chart → "Edit Data" (opens a mini Excel sheet) → change a number → the chart redraws instantly.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11064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/>
          <a:lstStyle/>
          <a:p>
            <a:pPr algn="ctr">
              <a:defRPr sz="1350">
                <a:solidFill>
                  <a:srgbClr val="334155"/>
                </a:solidFill>
                <a:latin typeface="Segoe UI"/>
              </a:defRPr>
            </a:pPr>
            <a:r>
              <a:t>All KPI-card numbers and insight text are plain text boxes — click once to select, click again to edit.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40480"/>
            <a:ext cx="11064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/>
          <a:lstStyle/>
          <a:p>
            <a:pPr algn="ctr">
              <a:defRPr sz="1350">
                <a:solidFill>
                  <a:srgbClr val="334155"/>
                </a:solidFill>
                <a:latin typeface="Segoe UI"/>
              </a:defRPr>
            </a:pPr>
            <a:r>
              <a:t>This deck reflects the same underlying dataset as the RCPL Integrated EHS Excel system and the web app in progress — use whichever format suits the meeting: this PPT for a board readout, the web app for live daily/monthly entry.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74920"/>
            <a:ext cx="11064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/>
          <a:lstStyle/>
          <a:p>
            <a:pPr algn="ctr">
              <a:defRPr sz="1350">
                <a:solidFill>
                  <a:srgbClr val="334155"/>
                </a:solidFill>
                <a:latin typeface="Segoe UI"/>
              </a:defRPr>
            </a:pPr>
            <a:r>
              <a:t>Recommended cadence: refresh this deck monthly from the web app's export, or ask me to regenerate it any time your data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