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Incident Severity Pyramid (Heinrich)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0625A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Fatality</c:v>
                </c:pt>
                <c:pt idx="1">
                  <c:v>Lost Time Injury</c:v>
                </c:pt>
                <c:pt idx="2">
                  <c:v>Restricted Work</c:v>
                </c:pt>
                <c:pt idx="3">
                  <c:v>Medical Treatment</c:v>
                </c:pt>
                <c:pt idx="4">
                  <c:v>First Aid</c:v>
                </c:pt>
                <c:pt idx="5">
                  <c:v>Near Miss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5</c:v>
                </c:pt>
                <c:pt idx="3">
                  <c:v>5</c:v>
                </c:pt>
                <c:pt idx="4">
                  <c:v>7</c:v>
                </c:pt>
                <c:pt idx="5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Incident Classification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F0625A"/>
              </a:solidFill>
            </c:spPr>
          </c:dPt>
          <c:dPt>
            <c:idx val="1"/>
            <c:spPr>
              <a:solidFill>
                <a:srgbClr val="EA580C"/>
              </a:solidFill>
            </c:spPr>
          </c:dPt>
          <c:dPt>
            <c:idx val="2"/>
            <c:spPr>
              <a:solidFill>
                <a:srgbClr val="F5A524"/>
              </a:solidFill>
            </c:spPr>
          </c:dPt>
          <c:dPt>
            <c:idx val="3"/>
            <c:spPr>
              <a:solidFill>
                <a:srgbClr val="EAB308"/>
              </a:solidFill>
            </c:spPr>
          </c:dPt>
          <c:dPt>
            <c:idx val="4"/>
            <c:spPr>
              <a:solidFill>
                <a:srgbClr val="14B8A6"/>
              </a:solidFill>
            </c:spPr>
          </c:dPt>
          <c:dPt>
            <c:idx val="5"/>
            <c:spPr>
              <a:solidFill>
                <a:srgbClr val="0B6EA8"/>
              </a:solidFill>
            </c:spPr>
          </c:dPt>
          <c:cat>
            <c:strRef>
              <c:f>Sheet1!$A$2:$A$7</c:f>
              <c:strCache>
                <c:ptCount val="6"/>
                <c:pt idx="0">
                  <c:v>Fatality</c:v>
                </c:pt>
                <c:pt idx="1">
                  <c:v>Lost Time Injury</c:v>
                </c:pt>
                <c:pt idx="2">
                  <c:v>Restricted Work</c:v>
                </c:pt>
                <c:pt idx="3">
                  <c:v>Medical Treatment</c:v>
                </c:pt>
                <c:pt idx="4">
                  <c:v>First Aid</c:v>
                </c:pt>
                <c:pt idx="5">
                  <c:v>Near Miss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5</c:v>
                </c:pt>
                <c:pt idx="3">
                  <c:v>5</c:v>
                </c:pt>
                <c:pt idx="4">
                  <c:v>7</c:v>
                </c:pt>
                <c:pt idx="5">
                  <c:v>30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overlay val="0"/>
      <c:txPr>
        <a:bodyPr/>
        <a:lstStyle/>
        <a:p>
          <a:pPr>
            <a:defRPr sz="850">
              <a:solidFill>
                <a:srgbClr val="94A3B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Monthly Incident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ln w="28575">
              <a:solidFill>
                <a:srgbClr val="14B8A6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</c:v>
                </c:pt>
                <c:pt idx="6">
                  <c:v>3</c:v>
                </c:pt>
                <c:pt idx="7">
                  <c:v>2</c:v>
                </c:pt>
                <c:pt idx="8">
                  <c:v>5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TRIR &amp; LTIFR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TRIR</c:v>
                </c:pt>
              </c:strCache>
            </c:strRef>
          </c:tx>
          <c:spPr>
            <a:ln w="28575">
              <a:solidFill>
                <a:srgbClr val="F0625A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2.4</c:v>
                </c:pt>
                <c:pt idx="3">
                  <c:v>7.2</c:v>
                </c:pt>
                <c:pt idx="4">
                  <c:v>7.2</c:v>
                </c:pt>
                <c:pt idx="5">
                  <c:v>0.0</c:v>
                </c:pt>
                <c:pt idx="6">
                  <c:v>2.4</c:v>
                </c:pt>
                <c:pt idx="7">
                  <c:v>0.0</c:v>
                </c:pt>
                <c:pt idx="8">
                  <c:v>2.4</c:v>
                </c:pt>
                <c:pt idx="9">
                  <c:v>0.0</c:v>
                </c:pt>
                <c:pt idx="10">
                  <c:v>2.4</c:v>
                </c:pt>
                <c:pt idx="11">
                  <c:v>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LTIFR</c:v>
                </c:pt>
              </c:strCache>
            </c:strRef>
          </c:tx>
          <c:spPr>
            <a:ln w="28575">
              <a:solidFill>
                <a:srgbClr val="F5A524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12.0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>
              <a:solidFill>
                <a:srgbClr val="94A3B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Leading vs Lagging Activity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Leading</c:v>
                </c:pt>
              </c:strCache>
            </c:strRef>
          </c:tx>
          <c:spPr>
            <a:ln w="28575">
              <a:solidFill>
                <a:srgbClr val="14B8A6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</c:v>
                </c:pt>
                <c:pt idx="1">
                  <c:v>32</c:v>
                </c:pt>
                <c:pt idx="2">
                  <c:v>26</c:v>
                </c:pt>
                <c:pt idx="3">
                  <c:v>17</c:v>
                </c:pt>
                <c:pt idx="4">
                  <c:v>24</c:v>
                </c:pt>
                <c:pt idx="5">
                  <c:v>26</c:v>
                </c:pt>
                <c:pt idx="6">
                  <c:v>34</c:v>
                </c:pt>
                <c:pt idx="7">
                  <c:v>26</c:v>
                </c:pt>
                <c:pt idx="8">
                  <c:v>16</c:v>
                </c:pt>
                <c:pt idx="9">
                  <c:v>21</c:v>
                </c:pt>
                <c:pt idx="10">
                  <c:v>30</c:v>
                </c:pt>
                <c:pt idx="11">
                  <c:v>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Lagging (Incidents)</c:v>
                </c:pt>
              </c:strCache>
            </c:strRef>
          </c:tx>
          <c:spPr>
            <a:ln w="28575">
              <a:solidFill>
                <a:srgbClr val="F0625A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</c:v>
                </c:pt>
                <c:pt idx="6">
                  <c:v>3</c:v>
                </c:pt>
                <c:pt idx="7">
                  <c:v>2</c:v>
                </c:pt>
                <c:pt idx="8">
                  <c:v>5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50">
              <a:solidFill>
                <a:srgbClr val="94A3B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Inspections by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Inspections</c:v>
                </c:pt>
              </c:strCache>
            </c:strRef>
          </c:tx>
          <c:spPr>
            <a:solidFill>
              <a:srgbClr val="8B5CF6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13</c:v>
                </c:pt>
                <c:pt idx="2">
                  <c:v>11</c:v>
                </c:pt>
                <c:pt idx="3">
                  <c:v>8</c:v>
                </c:pt>
                <c:pt idx="4">
                  <c:v>10</c:v>
                </c:pt>
                <c:pt idx="5">
                  <c:v>14</c:v>
                </c:pt>
                <c:pt idx="6">
                  <c:v>16</c:v>
                </c:pt>
                <c:pt idx="7">
                  <c:v>18</c:v>
                </c:pt>
                <c:pt idx="8">
                  <c:v>10</c:v>
                </c:pt>
                <c:pt idx="9">
                  <c:v>10</c:v>
                </c:pt>
                <c:pt idx="10">
                  <c:v>12</c:v>
                </c:pt>
                <c:pt idx="11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Department Safety Score (low → high)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4B8A6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Construction</c:v>
                </c:pt>
                <c:pt idx="1">
                  <c:v>Logistics</c:v>
                </c:pt>
                <c:pt idx="2">
                  <c:v>Contractor</c:v>
                </c:pt>
                <c:pt idx="3">
                  <c:v>Safety</c:v>
                </c:pt>
                <c:pt idx="4">
                  <c:v>Admin</c:v>
                </c:pt>
                <c:pt idx="5">
                  <c:v>Operations</c:v>
                </c:pt>
                <c:pt idx="6">
                  <c:v>Maintenance</c:v>
                </c:pt>
                <c:pt idx="7">
                  <c:v>Quality</c:v>
                </c:pt>
                <c:pt idx="8">
                  <c:v>Projects</c:v>
                </c:pt>
                <c:pt idx="9">
                  <c:v>Engineering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</c:v>
                </c:pt>
                <c:pt idx="1">
                  <c:v>78</c:v>
                </c:pt>
                <c:pt idx="2">
                  <c:v>80</c:v>
                </c:pt>
                <c:pt idx="3">
                  <c:v>84</c:v>
                </c:pt>
                <c:pt idx="4">
                  <c:v>89</c:v>
                </c:pt>
                <c:pt idx="5">
                  <c:v>92</c:v>
                </c:pt>
                <c:pt idx="6">
                  <c:v>94</c:v>
                </c:pt>
                <c:pt idx="7">
                  <c:v>94</c:v>
                </c:pt>
                <c:pt idx="8">
                  <c:v>96</c:v>
                </c:pt>
                <c:pt idx="9">
                  <c:v>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Root Cause Pareto (Incidents)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0625A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Inadequate Procedure</c:v>
                </c:pt>
                <c:pt idx="1">
                  <c:v>Unsafe Condition</c:v>
                </c:pt>
                <c:pt idx="2">
                  <c:v>Equipment Failure</c:v>
                </c:pt>
                <c:pt idx="3">
                  <c:v>Unsafe Act</c:v>
                </c:pt>
                <c:pt idx="4">
                  <c:v>Human Error</c:v>
                </c:pt>
                <c:pt idx="5">
                  <c:v>Poor Housekeeping</c:v>
                </c:pt>
                <c:pt idx="6">
                  <c:v>Lack of Training</c:v>
                </c:pt>
                <c:pt idx="7">
                  <c:v>PPE Not Used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PTW Audit Verdict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14B8A6"/>
              </a:solidFill>
            </c:spPr>
          </c:dPt>
          <c:dPt>
            <c:idx val="1"/>
            <c:spPr>
              <a:solidFill>
                <a:srgbClr val="F0625A"/>
              </a:solidFill>
            </c:spPr>
          </c:dPt>
          <c:dPt>
            <c:idx val="2"/>
            <c:spPr>
              <a:solidFill>
                <a:srgbClr val="F5A524"/>
              </a:solidFill>
            </c:spPr>
          </c:dPt>
          <c:cat>
            <c:strRef>
              <c:f>Sheet1!$A$2:$A$4</c:f>
              <c:strCache>
                <c:ptCount val="3"/>
                <c:pt idx="0">
                  <c:v>Compliant</c:v>
                </c:pt>
                <c:pt idx="1">
                  <c:v>Non-Compliant</c:v>
                </c:pt>
                <c:pt idx="2">
                  <c:v>Partially Compliant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overlay val="0"/>
      <c:txPr>
        <a:bodyPr/>
        <a:lstStyle/>
        <a:p>
          <a:pPr>
            <a:defRPr sz="850">
              <a:solidFill>
                <a:srgbClr val="94A3B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System Health Radar (% of target areas)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ln w="25400">
              <a:solidFill>
                <a:srgbClr val="14B8A6"/>
              </a:solidFill>
            </a:ln>
          </c:spPr>
          <c:cat>
            <c:strRef>
              <c:f>Sheet1!$A$2:$A$7</c:f>
              <c:strCache>
                <c:ptCount val="6"/>
                <c:pt idx="0">
                  <c:v>Training</c:v>
                </c:pt>
                <c:pt idx="1">
                  <c:v>PTW Audit</c:v>
                </c:pt>
                <c:pt idx="2">
                  <c:v>Obs Closure</c:v>
                </c:pt>
                <c:pt idx="3">
                  <c:v>CA Closure</c:v>
                </c:pt>
                <c:pt idx="4">
                  <c:v>JSA Approval</c:v>
                </c:pt>
                <c:pt idx="5">
                  <c:v>Walkthroughs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45.8</c:v>
                </c:pt>
                <c:pt idx="1">
                  <c:v>47.9</c:v>
                </c:pt>
                <c:pt idx="2">
                  <c:v>39.6</c:v>
                </c:pt>
                <c:pt idx="3">
                  <c:v>41.7</c:v>
                </c:pt>
                <c:pt idx="4">
                  <c:v>52.1</c:v>
                </c:pt>
                <c:pt idx="5">
                  <c:v>43.8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 w="6350">
              <a:solidFill>
                <a:srgbClr val="22314F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50">
              <a:solidFill>
                <a:srgbClr val="94A3B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Injuries by Body Part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0625A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Multiple</c:v>
                </c:pt>
                <c:pt idx="1">
                  <c:v>Back</c:v>
                </c:pt>
                <c:pt idx="2">
                  <c:v>Hand/Finger</c:v>
                </c:pt>
                <c:pt idx="3">
                  <c:v>Eye</c:v>
                </c:pt>
                <c:pt idx="4">
                  <c:v>Foot/Leg</c:v>
                </c:pt>
                <c:pt idx="5">
                  <c:v>Head</c:v>
                </c:pt>
                <c:pt idx="6">
                  <c:v>Arm</c:v>
                </c:pt>
                <c:pt idx="7">
                  <c:v>Torso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50">
                <a:solidFill>
                  <a:srgbClr val="94A3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22314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2314F"/>
            </a:solidFill>
          </a:ln>
        </c:spPr>
        <c:txPr>
          <a:bodyPr/>
          <a:lstStyle/>
          <a:p>
            <a:pPr>
              <a:defRPr sz="8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94A3B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chart" Target="../charts/chart1.xml"/><Relationship Id="rId14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Relationship Id="rId9" Type="http://schemas.openxmlformats.org/officeDocument/2006/relationships/image" Target="../media/image11.png"/><Relationship Id="rId10" Type="http://schemas.openxmlformats.org/officeDocument/2006/relationships/chart" Target="../charts/chart10.xml"/><Relationship Id="rId11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chart" Target="../charts/char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RCPL INTEGRATED EHS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4B8A6"/>
                </a:solidFill>
                <a:latin typeface="Segoe UI"/>
              </a:defRPr>
            </a:pPr>
            <a:r>
              <a:t>Executive &amp; Leadership Safety Review  ·  Reliance Consumer Products Ltd  ·  Campa Cola CSD Plant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3977639"/>
            <a:ext cx="32004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94A3B8"/>
                </a:solidFill>
                <a:latin typeface="Segoe UI"/>
              </a:defRPr>
            </a:pPr>
            <a:r>
              <a:t>Every chart in this deck is a native PowerPoint chart — right-click any chart → Edit Data to change the numbers, the chart redraws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🧭  CORPORATE SAFETY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Headline KPIs for this reporting period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hard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2219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TRIR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6245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0625A"/>
                </a:solidFill>
                <a:latin typeface="Segoe UI"/>
              </a:defRPr>
            </a:pPr>
            <a:r>
              <a:t>Target ≤ 1.0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4" y="123444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medcr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417320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56432" y="22219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LTIFR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136245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94767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0625A"/>
                </a:solidFill>
                <a:latin typeface="Segoe UI"/>
              </a:defRPr>
            </a:pPr>
            <a:r>
              <a:t>Target ≤ 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23444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warn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417320"/>
            <a:ext cx="566928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5936" y="22219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TOTAL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36245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4767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5A524"/>
                </a:solidFill>
                <a:latin typeface="Segoe UI"/>
              </a:defRPr>
            </a:pPr>
            <a:r>
              <a:t>12-month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4272" y="123444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417320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5440" y="222199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LOST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136245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699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94767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0625A"/>
                </a:solidFill>
                <a:latin typeface="Segoe UI"/>
              </a:defRPr>
            </a:pPr>
            <a:r>
              <a:t>12-month total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78892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ing_trai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62072"/>
            <a:ext cx="786384" cy="786384"/>
          </a:xfrm>
          <a:prstGeom prst="rect">
            <a:avLst/>
          </a:prstGeom>
        </p:spPr>
      </p:pic>
      <p:pic>
        <p:nvPicPr>
          <p:cNvPr id="29" name="Picture 28" descr="icon_peo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2971800"/>
            <a:ext cx="566928" cy="5669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37764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TRAINING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291693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45.8%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50215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4B8A6"/>
                </a:solidFill>
                <a:latin typeface="Segoe UI"/>
              </a:defRPr>
            </a:pPr>
            <a:r>
              <a:t>Target ≥ 95%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55264" y="278892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ring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2862072"/>
            <a:ext cx="786384" cy="786384"/>
          </a:xfrm>
          <a:prstGeom prst="rect">
            <a:avLst/>
          </a:prstGeom>
        </p:spPr>
      </p:pic>
      <p:pic>
        <p:nvPicPr>
          <p:cNvPr id="35" name="Picture 34" descr="icon_ey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6432" y="2971800"/>
            <a:ext cx="566928" cy="5669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456432" y="37764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OBS CLOSURE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4" y="291693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39.6%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350215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5A524"/>
                </a:solidFill>
                <a:latin typeface="Segoe UI"/>
              </a:defRPr>
            </a:pPr>
            <a:r>
              <a:t>Target ≥ 90%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278892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ing_c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208" y="2862072"/>
            <a:ext cx="786384" cy="786384"/>
          </a:xfrm>
          <a:prstGeom prst="rect">
            <a:avLst/>
          </a:prstGeom>
        </p:spPr>
      </p:pic>
      <p:pic>
        <p:nvPicPr>
          <p:cNvPr id="41" name="Picture 40" descr="icon_clipboa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5936" y="2971800"/>
            <a:ext cx="566928" cy="5669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45936" y="37764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CA CLOSURE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291693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41.7%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350215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B5CF6"/>
                </a:solidFill>
                <a:latin typeface="Segoe UI"/>
              </a:defRPr>
            </a:pPr>
            <a:r>
              <a:t>Target ≥ 90%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34272" y="2788920"/>
            <a:ext cx="2724912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con_shield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0" y="2971800"/>
            <a:ext cx="566928" cy="5669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35440" y="37764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NEAR MISS (LEADING)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48672" y="2916936"/>
            <a:ext cx="1673352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502152"/>
            <a:ext cx="23591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4B8A6"/>
                </a:solidFill>
                <a:latin typeface="Segoe UI"/>
              </a:defRPr>
            </a:pPr>
            <a:r>
              <a:t>Higher = healthier culture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251960"/>
            <a:ext cx="562356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" name="Chart 50"/>
          <p:cNvGraphicFramePr>
            <a:graphicFrameLocks noGrp="1"/>
          </p:cNvGraphicFramePr>
          <p:nvPr/>
        </p:nvGraphicFramePr>
        <p:xfrm>
          <a:off x="493776" y="4379976"/>
          <a:ext cx="5367528" cy="2075688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52" name="Rounded Rectangle 51"/>
          <p:cNvSpPr/>
          <p:nvPr/>
        </p:nvSpPr>
        <p:spPr>
          <a:xfrm>
            <a:off x="6172200" y="4251960"/>
            <a:ext cx="562356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6300216" y="4379976"/>
          <a:ext cx="5367528" cy="2075688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📈  12-MONTH TREND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Incident volume, injury rate and leading-vs-lagging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26060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3776" y="1271016"/>
          <a:ext cx="5367528" cy="23500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1143000"/>
            <a:ext cx="5623560" cy="26060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00216" y="1271016"/>
          <a:ext cx="5367528" cy="23500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3886200"/>
            <a:ext cx="5623560" cy="26060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93776" y="4014216"/>
          <a:ext cx="5367528" cy="23500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3886200"/>
            <a:ext cx="5623560" cy="9601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Leading:Lagging ratio this year: 6.0 proactive activities for every reported incident. World-class programs track this ratio explicitly, not just the incident 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956048"/>
            <a:ext cx="5623560" cy="1536192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300216" y="5084064"/>
          <a:ext cx="5367528" cy="1280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🏭  DEPARTMENT PERFORMANCE &amp;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Sorted worst-first, per dashboard-design best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53492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3776" y="1271016"/>
          <a:ext cx="5367528" cy="50932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1143000"/>
            <a:ext cx="5623560" cy="26060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00216" y="1271016"/>
          <a:ext cx="5367528" cy="23500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2200" y="3886200"/>
            <a:ext cx="5623560" cy="26060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0216" y="4014216"/>
          <a:ext cx="5367528" cy="235000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🎯  COMPLIANCE GAUGES &amp; SYSTEM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Target attainment across the safety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69748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ng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344168"/>
            <a:ext cx="1554480" cy="1554480"/>
          </a:xfrm>
          <a:prstGeom prst="rect">
            <a:avLst/>
          </a:prstGeom>
        </p:spPr>
      </p:pic>
      <p:pic>
        <p:nvPicPr>
          <p:cNvPr id="9" name="Picture 8" descr="icon_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865376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292608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91256"/>
            <a:ext cx="2697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143000"/>
            <a:ext cx="269748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ing_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1344168"/>
            <a:ext cx="1554480" cy="1554480"/>
          </a:xfrm>
          <a:prstGeom prst="rect">
            <a:avLst/>
          </a:prstGeom>
        </p:spPr>
      </p:pic>
      <p:pic>
        <p:nvPicPr>
          <p:cNvPr id="14" name="Picture 13" descr="icon_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865376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4680" y="292608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191256"/>
            <a:ext cx="2697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OBS CLOSURE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143000"/>
            <a:ext cx="269748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ing_c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344168"/>
            <a:ext cx="1554480" cy="1554480"/>
          </a:xfrm>
          <a:prstGeom prst="rect">
            <a:avLst/>
          </a:prstGeom>
        </p:spPr>
      </p:pic>
      <p:pic>
        <p:nvPicPr>
          <p:cNvPr id="19" name="Picture 18" descr="icon_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1865376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0" y="292608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91256"/>
            <a:ext cx="2697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CA CLOSURE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143000"/>
            <a:ext cx="269748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ing_pt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4020" y="1344168"/>
            <a:ext cx="1554480" cy="1554480"/>
          </a:xfrm>
          <a:prstGeom prst="rect">
            <a:avLst/>
          </a:prstGeom>
        </p:spPr>
      </p:pic>
      <p:pic>
        <p:nvPicPr>
          <p:cNvPr id="24" name="Picture 23" descr="icon_shield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0" y="1865376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32520" y="292608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47.9%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191256"/>
            <a:ext cx="2697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PTW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57600"/>
            <a:ext cx="5623560" cy="288036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493776" y="3785616"/>
          <a:ext cx="5367528" cy="2624328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172200" y="3657600"/>
            <a:ext cx="5623560" cy="100584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Reading the gauges: a ring at 100% means fully compliant this period. World-class plants keep every gauge above 90% and treat two consecutive months below target as an automatic leadership review trigger.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800600"/>
            <a:ext cx="5623560" cy="173736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_medcro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3368" y="4983480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73368" y="6153912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RECORDABLE INCIDENTS (12-MONTH)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928616"/>
            <a:ext cx="45720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879592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0625A"/>
                </a:solidFill>
                <a:latin typeface="Segoe UI"/>
              </a:defRPr>
            </a:pPr>
            <a:r>
              <a:t>Medical Treatment + Restricted Work + LTI + Fatality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🧍  BODY INJURY MAPPING &amp; SAFETY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Where injuries occur on the body (12-month, real 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3703320" cy="539496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dy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283464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234440"/>
            <a:ext cx="3703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FRONT VIEW</a:t>
            </a:r>
          </a:p>
        </p:txBody>
      </p:sp>
      <p:sp>
        <p:nvSpPr>
          <p:cNvPr id="10" name="Oval 9"/>
          <p:cNvSpPr/>
          <p:nvPr/>
        </p:nvSpPr>
        <p:spPr>
          <a:xfrm>
            <a:off x="2043684" y="1463040"/>
            <a:ext cx="393192" cy="393192"/>
          </a:xfrm>
          <a:prstGeom prst="ellipse">
            <a:avLst/>
          </a:prstGeom>
          <a:solidFill>
            <a:srgbClr val="F062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Oval 10"/>
          <p:cNvSpPr/>
          <p:nvPr/>
        </p:nvSpPr>
        <p:spPr>
          <a:xfrm>
            <a:off x="2402129" y="1197864"/>
            <a:ext cx="413308" cy="413308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2" name="Oval 11"/>
          <p:cNvSpPr/>
          <p:nvPr/>
        </p:nvSpPr>
        <p:spPr>
          <a:xfrm>
            <a:off x="2083918" y="2608783"/>
            <a:ext cx="312724" cy="312724"/>
          </a:xfrm>
          <a:prstGeom prst="ellipse">
            <a:avLst/>
          </a:prstGeom>
          <a:solidFill>
            <a:srgbClr val="F5A5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013509" y="2963570"/>
            <a:ext cx="453542" cy="453542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" name="Oval 13"/>
          <p:cNvSpPr/>
          <p:nvPr/>
        </p:nvSpPr>
        <p:spPr>
          <a:xfrm>
            <a:off x="2989173" y="2663647"/>
            <a:ext cx="373075" cy="373075"/>
          </a:xfrm>
          <a:prstGeom prst="ellipse">
            <a:avLst/>
          </a:prstGeom>
          <a:solidFill>
            <a:srgbClr val="0B6E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3015691" y="3356305"/>
            <a:ext cx="433425" cy="433425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1693469" y="4344314"/>
            <a:ext cx="413308" cy="413308"/>
          </a:xfrm>
          <a:prstGeom prst="ellipse">
            <a:avLst/>
          </a:prstGeom>
          <a:solidFill>
            <a:srgbClr val="F062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989320"/>
            <a:ext cx="3703320" cy="4572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"Multiple": 11 incidents involved more than one body region (not shown on the figure — typically the most serious cases, priority for root-cause review).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097280"/>
            <a:ext cx="3429000" cy="269748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334256" y="1225296"/>
          <a:ext cx="3172968" cy="24414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4206240" y="3931920"/>
            <a:ext cx="3429000" cy="137160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Markers are sized by count — the bigger the circle, the more injuries recorded at that location. Back and Hand/Finger are this period's priority zones for targeted PPE/ergonomics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097280"/>
            <a:ext cx="4023360" cy="539496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32620" y="1371600"/>
            <a:ext cx="594360" cy="769620"/>
          </a:xfrm>
          <a:prstGeom prst="rect">
            <a:avLst/>
          </a:prstGeom>
          <a:solidFill>
            <a:srgbClr val="F0625A"/>
          </a:solidFill>
          <a:ln w="190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Fatality — 1 (2%)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179320"/>
            <a:ext cx="1188720" cy="769620"/>
          </a:xfrm>
          <a:prstGeom prst="rect">
            <a:avLst/>
          </a:prstGeom>
          <a:solidFill>
            <a:srgbClr val="B91C1C"/>
          </a:solidFill>
          <a:ln w="190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Lost Time Injury — 0 (0%)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38260" y="2987040"/>
            <a:ext cx="1783080" cy="769620"/>
          </a:xfrm>
          <a:prstGeom prst="rect">
            <a:avLst/>
          </a:prstGeom>
          <a:solidFill>
            <a:srgbClr val="EA580C"/>
          </a:solidFill>
          <a:ln w="190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Restricted Work — 5 (10%)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794760"/>
            <a:ext cx="2377440" cy="769620"/>
          </a:xfrm>
          <a:prstGeom prst="rect">
            <a:avLst/>
          </a:prstGeom>
          <a:solidFill>
            <a:srgbClr val="F5A524"/>
          </a:solidFill>
          <a:ln w="190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Medical Treatment — 5 (10%)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3900" y="4602480"/>
            <a:ext cx="2971800" cy="769620"/>
          </a:xfrm>
          <a:prstGeom prst="rect">
            <a:avLst/>
          </a:prstGeom>
          <a:solidFill>
            <a:srgbClr val="C9A82A"/>
          </a:solidFill>
          <a:ln w="190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First Aid — 7 (15%)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410200"/>
            <a:ext cx="3566160" cy="769620"/>
          </a:xfrm>
          <a:prstGeom prst="rect">
            <a:avLst/>
          </a:prstGeom>
          <a:solidFill>
            <a:srgbClr val="14B8A6"/>
          </a:solidFill>
          <a:ln w="190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Near Miss — 30 (62%)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⏱  RISK MATRIX, INJURY-RATE GAUGES &amp; DAYS-SINCE-INCIDENT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Risk matrix from real data; days-since-incident is an illustrative sample counter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52044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ng_days_si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34440"/>
            <a:ext cx="169164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783080"/>
            <a:ext cx="3520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44368"/>
            <a:ext cx="3520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4B8A6"/>
                </a:solidFill>
                <a:latin typeface="Segoe UI"/>
              </a:defRPr>
            </a:pPr>
            <a:r>
              <a:t>DAYS SINCE LAST LOST-TIME INCIDENT</a:t>
            </a:r>
            <a:br/>
            <a:r>
              <a:t>(illustrative)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143000"/>
            <a:ext cx="361188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uge_tr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17320"/>
            <a:ext cx="3337560" cy="1783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9080" y="30632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TRIR: 2.20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143000"/>
            <a:ext cx="361188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auge_ltif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417320"/>
            <a:ext cx="3337560" cy="1783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18120" y="3063240"/>
            <a:ext cx="3611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LTIFR: 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egoe UI"/>
              </a:defRPr>
            </a:pPr>
            <a:r>
              <a:t>INCIDENT RISK RATING × DEPARTMENT  (real data, 12-month)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4069080"/>
          <a:ext cx="74066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091"/>
                <a:gridCol w="1058091"/>
                <a:gridCol w="1058091"/>
                <a:gridCol w="1058091"/>
                <a:gridCol w="1058091"/>
                <a:gridCol w="1058091"/>
                <a:gridCol w="1058094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Risk \ Dept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Constructi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Engineerin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Logistics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B1220"/>
                          </a:solidFill>
                          <a:latin typeface="Segoe UI"/>
                        </a:defRPr>
                      </a:pPr>
                      <a:r>
                        <a:t>Maintenanc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A3A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A3A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A3A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A3A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6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A3A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6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4A3A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8A5A18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001000" y="4069080"/>
            <a:ext cx="3429000" cy="233172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9525">
            <a:solidFill>
              <a:srgbClr val="2231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Darker red = more incidents at that Risk Rating × Department intersection. Every cell is directly editable (click once, type a new number). Bullet-graph gauges above show TRIR/LTIFR against green/amber/red performance zones — a faster board-level read than a plain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🔎  KEY INSIGHTS FOR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Auto-generated from this period's data — edit freely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932688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0" tIns="127000" rIns="177800"/>
          <a:lstStyle/>
          <a:p>
            <a:pPr algn="ctr">
              <a:defRPr sz="1250">
                <a:solidFill>
                  <a:srgbClr val="FFFFFF"/>
                </a:solidFill>
                <a:latin typeface="Segoe UI"/>
              </a:defRPr>
            </a:pPr>
            <a:r>
              <a:t>TRIR is 2.20 and LTIFR is 1.00 against targets of ≤1.0 and ≤2.0 — requires attention.</a:t>
            </a:r>
          </a:p>
        </p:txBody>
      </p:sp>
      <p:pic>
        <p:nvPicPr>
          <p:cNvPr id="8" name="Picture 7" descr="icon_hard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53896"/>
            <a:ext cx="502920" cy="50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2276855"/>
            <a:ext cx="11338560" cy="932688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0" tIns="127000" rIns="177800"/>
          <a:lstStyle/>
          <a:p>
            <a:pPr algn="ctr">
              <a:defRPr sz="1250">
                <a:solidFill>
                  <a:srgbClr val="FFFFFF"/>
                </a:solidFill>
                <a:latin typeface="Segoe UI"/>
              </a:defRPr>
            </a:pPr>
            <a:r>
              <a:t>Construction has the lowest department safety score (64/100) — recommend a focused review of training, observation-closure and CA-closure rates there. Engineering leads at 97/100.</a:t>
            </a:r>
          </a:p>
        </p:txBody>
      </p:sp>
      <p:pic>
        <p:nvPicPr>
          <p:cNvPr id="10" name="Picture 9" descr="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96311"/>
            <a:ext cx="502920" cy="502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11480" y="3319270"/>
            <a:ext cx="11338560" cy="932688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F06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0" tIns="127000" rIns="177800"/>
          <a:lstStyle/>
          <a:p>
            <a:pPr algn="ctr">
              <a:defRPr sz="1250">
                <a:solidFill>
                  <a:srgbClr val="FFFFFF"/>
                </a:solidFill>
                <a:latin typeface="Segoe UI"/>
              </a:defRPr>
            </a:pPr>
            <a:r>
              <a:t>"Inadequate Procedure" is the leading root cause (13 of 48 incidents) — a targeted corrective-action campaign here would have outsized impact on next quarter's TRIR.</a:t>
            </a:r>
          </a:p>
        </p:txBody>
      </p:sp>
      <p:pic>
        <p:nvPicPr>
          <p:cNvPr id="12" name="Picture 11" descr="icon_warn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38726"/>
            <a:ext cx="502920" cy="502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" y="4361685"/>
            <a:ext cx="11338560" cy="932688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0" tIns="127000" rIns="177800"/>
          <a:lstStyle/>
          <a:p>
            <a:pPr algn="ctr">
              <a:defRPr sz="1250">
                <a:solidFill>
                  <a:srgbClr val="FFFFFF"/>
                </a:solidFill>
                <a:latin typeface="Segoe UI"/>
              </a:defRPr>
            </a:pPr>
            <a:r>
              <a:t>Training Compliance (45.8%), Obs Closure (39.6%) and CA Closure (41.7%) are all below the 90-95% world-class benchmark — these are the levers that move TRIR down over the next 2 quarters.</a:t>
            </a:r>
          </a:p>
        </p:txBody>
      </p:sp>
      <p:pic>
        <p:nvPicPr>
          <p:cNvPr id="14" name="Picture 13" descr="icon_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581141"/>
            <a:ext cx="502920" cy="502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" y="5404100"/>
            <a:ext cx="11338560" cy="932688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0" tIns="127000" rIns="177800"/>
          <a:lstStyle/>
          <a:p>
            <a:pPr algn="ctr">
              <a:defRPr sz="1250">
                <a:solidFill>
                  <a:srgbClr val="FFFFFF"/>
                </a:solidFill>
                <a:latin typeface="Segoe UI"/>
              </a:defRPr>
            </a:pPr>
            <a:r>
              <a:t>Leading:Lagging ratio is 6.0:1 this year — 288 proactive activities recorded against 48 incidents.</a:t>
            </a:r>
          </a:p>
        </p:txBody>
      </p:sp>
      <p:pic>
        <p:nvPicPr>
          <p:cNvPr id="16" name="Picture 15" descr="icon_shiel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623556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📋  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5836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Corporate review format — fully editable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987552"/>
            <a:ext cx="1133856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61320" y="182880"/>
            <a:ext cx="1417320" cy="566928"/>
          </a:xfrm>
          <a:prstGeom prst="rect">
            <a:avLst/>
          </a:prstGeom>
          <a:solidFill>
            <a:srgbClr val="162440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RCPL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0" tIns="152400" rIns="177800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Right-click any chart → "Edit Data" (opens a mini Excel sheet) → change a number → the chart redraws instantly.</a:t>
            </a:r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512064" cy="512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260604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0" tIns="152400" rIns="177800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All KPI-card numbers and insight text are plain text boxes — click once to select, click again to edit.</a:t>
            </a:r>
          </a:p>
        </p:txBody>
      </p:sp>
      <p:pic>
        <p:nvPicPr>
          <p:cNvPr id="10" name="Picture 9" descr="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98648"/>
            <a:ext cx="512064" cy="5120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84048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0" tIns="152400" rIns="177800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This deck reflects the same underlying dataset as the RCPL Integrated EHS Excel system and the web app in progress — use whichever format suits the meeting: this PPT for a board readout, the web app for live daily/monthly entry.</a:t>
            </a:r>
          </a:p>
        </p:txBody>
      </p:sp>
      <p:pic>
        <p:nvPicPr>
          <p:cNvPr id="12" name="Picture 11" descr="icon_shield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33088"/>
            <a:ext cx="512064" cy="5120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4500"/>
            </a:avLst>
          </a:prstGeom>
          <a:solidFill>
            <a:srgbClr val="111C33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0" tIns="152400" rIns="177800"/>
          <a:lstStyle/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Recommended cadence: refresh this deck monthly from the web app's export, or ask me to regenerate it any time your data changes.</a:t>
            </a:r>
          </a:p>
        </p:txBody>
      </p:sp>
      <p:pic>
        <p:nvPicPr>
          <p:cNvPr id="14" name="Picture 13" descr="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67528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